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0" y="914400"/>
            <a:ext cx="2286000" cy="22860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0" b="1">
                <a:solidFill>
                  <a:srgbClr val="0B0F1A"/>
                </a:solidFill>
                <a:latin typeface="Calibri"/>
              </a:rPr>
              <a:t>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429000"/>
            <a:ext cx="3840480" cy="4114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3429000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Calibri"/>
              </a:rPr>
              <a:t>9-BLOCKER D2 / F3  ·  AUTONOMOUS GRID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Renewable Energy</a:t>
            </a:r>
          </a:p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38BDF8"/>
                </a:solidFill>
                <a:latin typeface="Calibri"/>
              </a:rPr>
              <a:t>An Autonomous AI Agent for India's 500 GW Renewable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4A3C4"/>
                </a:solidFill>
                <a:latin typeface="Calibri"/>
              </a:rPr>
              <a:t>Real-time dispatch of solar, wind, batteries, grid, and demand — every 15 minutes.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India's Renewable Grid Needs an Intelligent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97480" cy="14630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91440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BBF24"/>
                </a:solidFill>
                <a:latin typeface="Calibri"/>
              </a:rPr>
              <a:t>500 GW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Renewable target</a:t>
            </a:r>
          </a:p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by 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37360"/>
            <a:ext cx="2697480" cy="14630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73736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192024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EF4444"/>
                </a:solidFill>
                <a:latin typeface="Calibri"/>
              </a:rPr>
              <a:t>₹1.2L Cr+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6060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Lost annually to</a:t>
            </a:r>
          </a:p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curtailment + diesel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737360"/>
            <a:ext cx="2697480" cy="14630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737360"/>
            <a:ext cx="91440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2024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38BDF8"/>
                </a:solidFill>
                <a:latin typeface="Calibri"/>
              </a:rPr>
              <a:t>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6060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Decision window</a:t>
            </a:r>
          </a:p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for operators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737360"/>
            <a:ext cx="2697480" cy="14630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7424" y="1737360"/>
            <a:ext cx="91440" cy="1463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192024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34D399"/>
                </a:solidFill>
                <a:latin typeface="Calibri"/>
              </a:rPr>
              <a:t>6+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6060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Competing objectives</a:t>
            </a:r>
          </a:p>
          <a:p>
            <a:pPr algn="l"/>
            <a:r>
              <a:rPr sz="1400" b="0">
                <a:solidFill>
                  <a:srgbClr val="94A3C4"/>
                </a:solidFill>
                <a:latin typeface="Calibri"/>
              </a:rPr>
              <a:t>to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Why today's approach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862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8BDF8"/>
                </a:solidFill>
              </a:rPr>
              <a:t>▸  </a:t>
            </a:r>
            <a:r>
              <a:rPr sz="1400">
                <a:solidFill>
                  <a:srgbClr val="E6EDF9"/>
                </a:solidFill>
                <a:latin typeface="Calibri"/>
              </a:rPr>
              <a:t>Solar and wind are intermittent — forecasts are uncertain; static dispatch rules break under volatility.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8BDF8"/>
                </a:solidFill>
              </a:rPr>
              <a:t>▸  </a:t>
            </a:r>
            <a:r>
              <a:rPr sz="1400">
                <a:solidFill>
                  <a:srgbClr val="E6EDF9"/>
                </a:solidFill>
                <a:latin typeface="Calibri"/>
              </a:rPr>
              <a:t>Operators must balance cost, carbon, reliability, battery health, curtailment, and profit — humans cannot optimize 20+ variables every 15 minutes.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8BDF8"/>
                </a:solidFill>
              </a:rPr>
              <a:t>▸  </a:t>
            </a:r>
            <a:r>
              <a:rPr sz="1400">
                <a:solidFill>
                  <a:srgbClr val="E6EDF9"/>
                </a:solidFill>
                <a:latin typeface="Calibri"/>
              </a:rPr>
              <a:t>Batteries are under-utilized as arbitrage + reserve assets; expensive diesel peakers fire up when stored solar could have been used.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8BDF8"/>
                </a:solidFill>
              </a:rPr>
              <a:t>▸  </a:t>
            </a:r>
            <a:r>
              <a:rPr sz="1400">
                <a:solidFill>
                  <a:srgbClr val="E6EDF9"/>
                </a:solidFill>
                <a:latin typeface="Calibri"/>
              </a:rPr>
              <a:t>Demand response and grid export are rarely coordinated in real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474720"/>
            <a:ext cx="5212080" cy="2743200"/>
          </a:xfrm>
          <a:prstGeom prst="roundRect">
            <a:avLst/>
          </a:prstGeom>
          <a:solidFill>
            <a:srgbClr val="0E1C1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474720"/>
            <a:ext cx="91440" cy="274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6118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⚡  Our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069080"/>
            <a:ext cx="484632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An autonomous AI agent that:</a:t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• reads telemetry and forecasts every 15 minutes,</a:t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• reasons about anomalies and uncertainty,</a:t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• calls a numerical LP optimizer as a tool,</a:t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• validates the plan and re-plans if needed,</a:t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• dispatches batteries, grid, curtailment, and DR,</a:t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• accepts natural-language operator commands.</a:t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Result: 71% cost cut, 153 t CO₂/day avoided, zero critical outages.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02  · 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Genuinely Agentic Loop: Observe → Reason → Optimize → Validate →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194560" cy="2194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1945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38BDF8"/>
                </a:solidFill>
                <a:latin typeface="Calibri"/>
              </a:rPr>
              <a:t>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alibri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Telemetry from 11 assets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+ 5-horizon forecasts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+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06040"/>
            <a:ext cx="11887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94A3C4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1828800"/>
            <a:ext cx="2194560" cy="2194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1828800"/>
            <a:ext cx="21945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21031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FBBF24"/>
                </a:solidFill>
                <a:latin typeface="Calibri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8803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Calibri"/>
              </a:rP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2918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Diagnose anomalies;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choose 6 objective weights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+ battery 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606040"/>
            <a:ext cx="11887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94A3C4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828800"/>
            <a:ext cx="2194560" cy="2194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1828800"/>
            <a:ext cx="21945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21031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A78BFA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8803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Calibri"/>
              </a:rPr>
              <a:t>OPTIMIZE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32918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Calls LP solver (PuLP/CBC)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— ~20 variables, &lt;50 ms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— as a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2606040"/>
            <a:ext cx="11887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94A3C4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496" y="1828800"/>
            <a:ext cx="2194560" cy="2194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97496" y="1828800"/>
            <a:ext cx="21945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7496" y="21031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EF4444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7496" y="28803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Calibri"/>
              </a:rP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32918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Check critical load,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SOC bounds, price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sanity; replan on fail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2606040"/>
            <a:ext cx="11887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94A3C4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10928" y="1828800"/>
            <a:ext cx="2194560" cy="2194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10928" y="1828800"/>
            <a:ext cx="219456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21031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34D399"/>
                </a:solidFill>
                <a:latin typeface="Calibr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28803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32918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Dispatch kW flows;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stream to dashboard;</a:t>
            </a:r>
          </a:p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log to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Calibri"/>
              </a:rPr>
              <a:t>What makes this agentic (not an LP with an LLM wrapper)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7091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38BDF8"/>
                </a:solidFill>
              </a:rPr>
              <a:t>▸  </a:t>
            </a:r>
            <a:r>
              <a:rPr sz="1300">
                <a:solidFill>
                  <a:srgbClr val="E6EDF9"/>
                </a:solidFill>
                <a:latin typeface="Calibri"/>
              </a:rPr>
              <a:t>The agent chooses objective weights + reserve dynamically per tick; the LP is a called tool, not the brain.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38BDF8"/>
                </a:solidFill>
              </a:rPr>
              <a:t>▸  </a:t>
            </a:r>
            <a:r>
              <a:rPr sz="1300">
                <a:solidFill>
                  <a:srgbClr val="E6EDF9"/>
                </a:solidFill>
                <a:latin typeface="Calibri"/>
              </a:rPr>
              <a:t>Closed-loop reflection: validation failures trigger an automatic replan with higher reliability weight.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38BDF8"/>
                </a:solidFill>
              </a:rPr>
              <a:t>▸  </a:t>
            </a:r>
            <a:r>
              <a:rPr sz="1300">
                <a:solidFill>
                  <a:srgbClr val="E6EDF9"/>
                </a:solidFill>
                <a:latin typeface="Calibri"/>
              </a:rPr>
              <a:t>Forecast confidence modulates risk posture (low confidence → higher battery reserve).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7091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34D399"/>
                </a:solidFill>
              </a:rPr>
              <a:t>▸  </a:t>
            </a:r>
            <a:r>
              <a:rPr sz="1300">
                <a:solidFill>
                  <a:srgbClr val="E6EDF9"/>
                </a:solidFill>
                <a:latin typeface="Calibri"/>
              </a:rPr>
              <a:t>Natural-language commands from operators blend with (not override) the agent's reasoning.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34D399"/>
                </a:solidFill>
              </a:rPr>
              <a:t>▸  </a:t>
            </a:r>
            <a:r>
              <a:rPr sz="1300">
                <a:solidFill>
                  <a:srgbClr val="E6EDF9"/>
                </a:solidFill>
                <a:latin typeface="Calibri"/>
              </a:rPr>
              <a:t>Structured telemetry + textual alerts (D2); continuous multi-timestep simulation under varying conditions (F3).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34D399"/>
                </a:solidFill>
              </a:rPr>
              <a:t>▸  </a:t>
            </a:r>
            <a:r>
              <a:rPr sz="1300">
                <a:solidFill>
                  <a:srgbClr val="E6EDF9"/>
                </a:solidFill>
                <a:latin typeface="Calibri"/>
              </a:rPr>
              <a:t>Hard safety layer (SOC 10–95% bounds, power-balance equality, ₹50/kWh critical penalty) can never be overridden.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Four-Layered System with an Immutable Safety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9144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09728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🧑‍💻   OPERATOR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React 19 · Recharts · WebSocket streaming (sub-50 ms)</a:t>
            </a:r>
          </a:p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Glass UI with live topology, dispatch chart, NL commands, 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11064240" cy="9144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109728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9864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🧠   AGENT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Observe → Reason → Optimize → Validate → Act</a:t>
            </a:r>
          </a:p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Rule-based expert (default, offline) · LLM-adaptive when API key present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64240" cy="9144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109728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9592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⚙️    LP OPTIMIZER (TOOL)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PuLP / CBC MILP · ~20 variables · &lt;50 ms per tick</a:t>
            </a:r>
          </a:p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Power balance · SOC evolution · charge/discharge exclusivity · DR caps · line derates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11064240" cy="9144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09728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9320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🌍   SIMULATION 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5 solar (93 MW) · 3 wind (75 MW) · 2 BESS (40 MW / 160 MWh)</a:t>
            </a:r>
          </a:p>
          <a:p>
            <a:pPr algn="l"/>
            <a:r>
              <a:rPr sz="1200" b="0">
                <a:solidFill>
                  <a:srgbClr val="94A3C4"/>
                </a:solidFill>
                <a:latin typeface="Calibri"/>
              </a:rPr>
              <a:t>Grid interconnection (TOU tariffs) · 3 industrial loads · 5 forecast horizons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606040"/>
            <a:ext cx="3657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38BDF8"/>
                </a:solidFill>
                <a:latin typeface="Calibri"/>
              </a:rPr>
              <a:t>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703320"/>
            <a:ext cx="3657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38BDF8"/>
                </a:solidFill>
                <a:latin typeface="Calibri"/>
              </a:rPr>
              <a:t>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800600"/>
            <a:ext cx="3657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38BDF8"/>
                </a:solidFill>
                <a:latin typeface="Calibri"/>
              </a:rPr>
              <a:t>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1A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989320"/>
            <a:ext cx="11064240" cy="502920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989320"/>
            <a:ext cx="109728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🛡  SAFETY LAYER  (cannot be overridden)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989320"/>
            <a:ext cx="8138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DF9"/>
                </a:solidFill>
                <a:latin typeface="Calibri"/>
              </a:rPr>
              <a:t>Battery SOC 10–95% hard bounds in LP  ·  Power-balance equality  ·  ₹50/kWh critical-load penalty  ·  Greedy fallback when LP is infeasible  ·  Human pause/override any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04  ·  AI MODELS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Stack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532120" cy="46634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53212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532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B0F1A"/>
                </a:solidFill>
                <a:latin typeface="Calibri"/>
              </a:rPr>
              <a:t>AI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▸ LLM-Adaptive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OpenAI-compatible client (Claude / GPT / Gemini) for situation diagnosis, anomaly detection, and dynamic weight selection per tick. Works when an API key is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▸ Rule-Based Expert Brain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Zero-dependency deterministic engine — delivers identical agentic loop and KPIs without external APIs. Critical for DISCOMs with data-sovereignty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▸ Multi-Objective LP 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PuLP + CBC as a called tool. ~20 variables, &lt;50 ms per tick. Objectives: cost, carbon, reliability, battery life, curtailment, profit export. Closed-loop replan on validation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▸ Uncertainty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5 forecast horizons (15m–4h) with confidence values. Low confidence → elevated battery reserve; anomaly triggers (faults, storms, price spikes) automatically shift weights.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532120" cy="46634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91640"/>
            <a:ext cx="5532120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691640"/>
            <a:ext cx="5532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B0F1A"/>
                </a:solidFill>
                <a:latin typeface="Calibri"/>
              </a:rPr>
              <a:t>Platform &amp;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2316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▸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9748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FastAPI + async WebSockets for sub-50 ms tick broadcast. Structured REST API + WS push. Background tick loop with safety try/except.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8328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▸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5760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React 19 + Vite + Recharts. 16:9 glass-mission-control dashboard with animated power-flow topology, live charts, decision audit, and natural-language command 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4340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▸ Reliability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61772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Hard safety constraints in LP (not in prompt). Greedy fallback dispatch when LP is infeasible. End-to-end QA: 78/78 checks across 8 phases (health, WS, 4 scenarios, 10 events, 6 NL commands).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5074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▸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57784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One command: ./run.sh auto-installs deps, builds frontend, starts server. No external API keys required. Ships with a demo simulation representing India's NCR solar/wind mix.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05  ·  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Live Mission-Control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655064"/>
            <a:ext cx="11347704" cy="464515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74552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C4"/>
                </a:solidFill>
                <a:latin typeface="Calibri"/>
              </a:rPr>
              <a:t>◂ Left: Asset portfolio (solar/wind/BESS live outputs)  ·  Center: Live power flow + 24h dispatch timeline  ·  Right: AI savings, reasoning, NL commands, forecasts, controls, audit 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06  · 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Measured Results vs. Dumb-Grid Baseline (24h Simulated Day)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743200" cy="2103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74320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200" b="1">
                <a:solidFill>
                  <a:srgbClr val="34D399"/>
                </a:solidFill>
                <a:latin typeface="Calibri"/>
              </a:rPr>
              <a:t>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Operating Cost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Reduced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₹13.7 L saved per day</a:t>
            </a:r>
          </a:p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on a ~100 MW portfolio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91640"/>
            <a:ext cx="2743200" cy="2103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691640"/>
            <a:ext cx="274320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01168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200" b="1">
                <a:solidFill>
                  <a:srgbClr val="38BDF8"/>
                </a:solidFill>
                <a:latin typeface="Calibri"/>
              </a:rPr>
              <a:t>153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92608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CO₂ Emissions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Avoided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≈ taking 33 cars off</a:t>
            </a:r>
          </a:p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the road per 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91640"/>
            <a:ext cx="2743200" cy="2103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691640"/>
            <a:ext cx="27432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01168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200" b="1">
                <a:solidFill>
                  <a:srgbClr val="FBBF24"/>
                </a:solidFill>
                <a:latin typeface="Calibri"/>
              </a:rPr>
              <a:t>487 MWh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92608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Curtailment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Reduced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Renewable energy that</a:t>
            </a:r>
          </a:p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would have been wasted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691640"/>
            <a:ext cx="2743200" cy="2103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691640"/>
            <a:ext cx="274320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201168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200" b="1">
                <a:solidFill>
                  <a:srgbClr val="34D399"/>
                </a:solidFill>
                <a:latin typeface="Calibri"/>
              </a:rPr>
              <a:t>0 MWh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92608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Unmet Critical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3375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100% reliability across</a:t>
            </a:r>
          </a:p>
          <a:p>
            <a:pPr algn="ctr"/>
            <a:r>
              <a:rPr sz="1100" b="0">
                <a:solidFill>
                  <a:srgbClr val="94A3C4"/>
                </a:solidFill>
                <a:latin typeface="Calibri"/>
              </a:rPr>
              <a:t>all stress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Stress-tested across 4 scenarios — zero critical outages every 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26280"/>
            <a:ext cx="2697480" cy="16916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526280"/>
            <a:ext cx="91440" cy="1691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70916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☀️ Normal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7492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Balanced renewable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7784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✓  60% cost saved  ·  0 unmet load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0128" y="4526280"/>
            <a:ext cx="2697480" cy="16916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10128" y="4526280"/>
            <a:ext cx="91440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8728" y="470916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🌡️ Summer Peak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507492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Demand surge + price spike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557784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✓  62% cost saved  ·  diesel avoided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4526280"/>
            <a:ext cx="2697480" cy="16916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6" y="4526280"/>
            <a:ext cx="91440" cy="1691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470916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⛈️ Stormy Night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507492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Wind gusts + line trip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557784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✓  Replan triggered  ·  0 outage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15984" y="4526280"/>
            <a:ext cx="2697480" cy="169164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15984" y="4526280"/>
            <a:ext cx="91440" cy="1691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4584" y="470916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📊 Price Volatility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4584" y="507492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C4"/>
                </a:solidFill>
                <a:latin typeface="Calibri"/>
              </a:rPr>
              <a:t>Extreme price swings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584" y="557784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✓  78% cost saved via battery arbitrage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07  · 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From One Industrial Site to National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703320" cy="4389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70332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0F1A"/>
                </a:solidFill>
                <a:latin typeface="Calibri"/>
              </a:rPr>
              <a:t>🎯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0F1A"/>
                </a:solidFill>
                <a:latin typeface="Calibri"/>
              </a:rPr>
              <a:t>Portfolio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≈ 100 MW pilot: 5 solar + 3 wind + 2 BESS + 3 industrial loads.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LP solves in &lt;50 ms → 15-minute tick is plenty of headroom.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Per-tick statelessness enables horizontal scaling across portfolios.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737360"/>
            <a:ext cx="3703320" cy="4389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37360"/>
            <a:ext cx="3703320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82880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0F1A"/>
                </a:solidFill>
                <a:latin typeface="Calibri"/>
              </a:rPr>
              <a:t>🚀 NEAR-TERM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148840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0F1A"/>
                </a:solidFill>
                <a:latin typeface="Calibri"/>
              </a:rPr>
              <a:t>DISCOM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88036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88036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Swap LP for MILP with unit commitment, economic dispatch, and transmission constraints.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8620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88620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Integrate IMD weather APIs, IEX price feeds, SCADA telemetry.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89204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89204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Hierarchical: one agent per zone + coordinating supervisor agent.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1737360"/>
            <a:ext cx="3703320" cy="4389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6" y="1737360"/>
            <a:ext cx="370332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182880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0F1A"/>
                </a:solidFill>
                <a:latin typeface="Calibri"/>
              </a:rPr>
              <a:t>🌏 LONG-TERM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148840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0F1A"/>
                </a:solidFill>
                <a:latin typeface="Calibri"/>
              </a:rPr>
              <a:t>National 500 GW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288036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288036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Multi-zone coordination across state DISCOMs with frequency/stability signals.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388620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3376" y="388620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Plug in EV fleets, green-hydrogen electrolyzers as flexible loads.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489204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4892040"/>
            <a:ext cx="2971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Carbon-credit &amp; REC arbitrage as explicit objectives; autonomous market bidding.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08  · 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Go-To-Market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703320" cy="4389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70332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0F1A"/>
                </a:solidFill>
                <a:latin typeface="Calibri"/>
              </a:rPr>
              <a:t>0–30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0F1A"/>
                </a:solidFill>
                <a:latin typeface="Calibri"/>
              </a:rPr>
              <a:t>PILOT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Deploy at one captive industrial site (5–10 MW RE + BESS) in Delhi-NCR.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4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Integrate with site SCADA and inverter Modbus/REST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A/B test agent vs human operator on cost, curtailment, and carbon KPIs.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0352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Refine UX with operator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737360"/>
            <a:ext cx="3703320" cy="4389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737360"/>
            <a:ext cx="3703320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184708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0F1A"/>
                </a:solidFill>
                <a:latin typeface="Calibri"/>
              </a:rPr>
              <a:t>30–90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19456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0F1A"/>
                </a:solidFill>
                <a:latin typeface="Calibri"/>
              </a:rPr>
              <a:t>DISCOM 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9718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297180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Scale to one DISCOM zone (1–2 GW) with a zonal coordinator agent.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74904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374904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Integrate IMD weather, IEX day-ahead prices, and short-term forecasts.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52628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452628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Confidence-aware forecasting model trained on historical SCADA.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530352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530352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Operator console with anomaly alerting and SLA tracking.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1737360"/>
            <a:ext cx="3703320" cy="438912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1737360"/>
            <a:ext cx="3703320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49056" y="184708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0F1A"/>
                </a:solidFill>
                <a:latin typeface="Calibri"/>
              </a:rPr>
              <a:t>6–12 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219456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0F1A"/>
                </a:solidFill>
                <a:latin typeface="Calibri"/>
              </a:rPr>
              <a:t>MARKET LAUNCH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29718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9096" y="297180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Multi-zone coordination for state-level DISCOMs with transmission constraints.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9056" y="374904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374904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Onboard EV fleets and green-hydrogen electrolyzers as flexible loads.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452628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9096" y="452628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Carbon-credit / REC arbitrage; autonomous participation in power exchanges.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6" y="530352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69096" y="5303520"/>
            <a:ext cx="29260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6EDF9"/>
                </a:solidFill>
                <a:latin typeface="Calibri"/>
              </a:rPr>
              <a:t>Productized SaaS with tenant isolation and audit reporting.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C4"/>
                </a:solidFill>
                <a:latin typeface="Calibri"/>
              </a:rPr>
              <a:t>Renewable Energy Orchestrator  ·  ET × Accenture AI Hackathon — Agentic Edition  ·  Problem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C4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0" y="914400"/>
            <a:ext cx="2286000" cy="22860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0" b="1">
                <a:solidFill>
                  <a:srgbClr val="0B0F1A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Let Agents Orchestrate the Renewable Transition.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  <a:latin typeface="Calibri"/>
              </a:rPr>
              <a:t>71% cost cut  ·  153 t CO₂ avoided per day  ·  zero critical outages  ·  works fully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4D399"/>
                </a:solidFill>
                <a:latin typeface="Calibri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C4"/>
                </a:solidFill>
                <a:latin typeface="Calibri"/>
              </a:rPr>
              <a:t>ET × Accenture AI Hackathon — Agentic Edition  ·  Problem 4: Renewable Energy Grid 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